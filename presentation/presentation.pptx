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A616-642B-6B37-22E4-CB3C5BB40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D70D9-8C9C-5C2A-0FB5-F240CAF8D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91FAD-252E-0599-0C96-BADADE46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8CA2B-DB11-2C9C-5C0E-4D47B694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652F5-7A2C-1812-9DF0-FA17F272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59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5DB9-A4F0-31B2-F772-DFED5FD9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7ABB2-E814-5D31-A7CD-B71A5D045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03BF4-8B21-74E9-5C23-FCEB31D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B01F0-83D7-6EA5-3130-E68AD80B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148CB-27A2-6C43-0920-1EDDD2BC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69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AC08-065E-409B-A27E-B6EE203C7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DAE58-032B-9808-101A-42360D2B5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DCE29-7DBA-F0CC-713F-E4B5D094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52812-324A-B9DE-445B-D4043D04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CF327-D860-7FF7-48CB-F2C38FE1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2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7BE0-117A-1E00-4C7F-2A265591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B3D84-4367-79FB-FC43-3990EC0A3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AB63A-43A5-672B-0F09-C1CB83DFE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8A8C5-B282-7880-D515-94539C08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6E89-350B-BD74-9BB8-3F170438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65150-42F9-EB23-5998-07FCE82D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57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15504-1FD4-63C3-9EBA-173EDCB6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7A12D-8025-B979-CEB7-B69765EBF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C93FA-AC9C-D8B3-18A8-74FBE4433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A698D-B7FF-51F9-39CE-091B7A2C8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5FC8C-4F23-B9BF-D4E6-71FCC3786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682A6-5F9F-4D27-7495-2EE9E94E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701B2-C2C6-6690-CE57-F8B7DED8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BD58B5-23B2-572E-76B4-B0FBDB9D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67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3DF4-351C-7545-2A5D-2164F304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7E3F7-7DA0-EBBE-BD49-53C77A1A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67BB2-9F2C-BE67-7AD0-CCBF7600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31BF2-CB69-5D1C-D1BA-E86388E1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5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4B95A-576B-F36C-3498-4D0131D3F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CC47B-49F8-0E2C-84F0-E84DD400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41230-54A5-0BDA-447E-DACF1140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08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4B205-2DAC-D3CA-9C5C-CF95C1A1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31DDC-260F-E042-9CB5-366416644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40B0D-AB00-CBC9-2774-8235D9449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BD980-73B9-69BD-3031-0228CF29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47072-04E6-C661-8EC3-4576467B5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05898-8A9D-E4BB-FAB7-0F59DE35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371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64A-501E-8435-A956-5B3CBE771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D50863-AA43-873E-7D31-F1898EDB1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29F37-D149-E4E2-B362-FAC0BBE15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8C813-098E-FEB4-8C64-7F94C3B6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4EB33-B731-AEDD-A32F-2217EFD0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647B6-3D30-9F70-9B3C-E523F988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952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8466-2099-17CD-2AAF-E690CD87D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8E020-CDD7-A7AD-020E-A48AA5FB7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AE8C9-26F1-604A-43B0-634AE405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C1B64-43BE-0BB5-4895-D181C66C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7C96D-8A55-936D-00F5-C2EBBE87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122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98A17-833B-7A3E-12B8-4ED28DE9E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012A8-B0EB-044E-2995-25F59C868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3A894-EF33-DDC0-A669-FD9E218F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27765-C891-8B6D-E52B-55B71AB8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A0EF-B486-5A1E-231B-FF28C167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3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C2E9B0-67FF-61B9-8E01-4B774000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19F63-EB01-7EF4-EEDC-49ED1EBE8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9B56D-90B2-E1BF-9D5D-8C021711D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32197-1CAB-433A-8325-C2311E3ADB7B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3BE16-0785-5E89-4D04-2AE38FFB2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3A933-0A9A-1B27-38C5-867B86E8D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90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36D4-2214-BB6C-EBC3-33C3ACE18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MOVIE THEATRE REVENUE &amp; OPERATIONS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682D6-5CD8-4BFE-8DB5-CF740CE924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by: Bala </a:t>
            </a:r>
            <a:r>
              <a:rPr lang="en-IN" dirty="0" err="1"/>
              <a:t>Abineshwar</a:t>
            </a:r>
            <a:r>
              <a:rPr lang="en-IN" dirty="0"/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3971881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4ADB-77E4-6E4F-37F4-03F645D4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4621"/>
            <a:ext cx="10515600" cy="1325563"/>
          </a:xfrm>
        </p:spPr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D3123-41F3-2E12-E143-0D6CC65C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025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 err="1"/>
              <a:t>CineMax</a:t>
            </a:r>
            <a:r>
              <a:rPr lang="en-IN" dirty="0"/>
              <a:t> Movie Theatre Revenue &amp; Operations Analytics focuses on </a:t>
            </a:r>
            <a:r>
              <a:rPr lang="en-IN" dirty="0" err="1"/>
              <a:t>analyzing</a:t>
            </a:r>
            <a:r>
              <a:rPr lang="en-IN" dirty="0"/>
              <a:t> multiplex booking data to understand box office performance, ticket volume, food and beverage revenue, and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233630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9686-A55A-EBA5-8327-68DF79391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191DC-1A67-858A-E000-F4B40AD8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Analyze</a:t>
            </a:r>
            <a:r>
              <a:rPr lang="en-IN" dirty="0"/>
              <a:t> overall box office and ticket sales performance</a:t>
            </a:r>
          </a:p>
          <a:p>
            <a:pPr lvl="0"/>
            <a:r>
              <a:rPr lang="en-IN" dirty="0"/>
              <a:t>Identify trends in monthly revenue and seasonal patterns</a:t>
            </a:r>
          </a:p>
          <a:p>
            <a:pPr lvl="0"/>
            <a:r>
              <a:rPr lang="en-IN" dirty="0"/>
              <a:t>Understand movie, genre, and theatre-related performance</a:t>
            </a:r>
          </a:p>
          <a:p>
            <a:pPr lvl="0"/>
            <a:r>
              <a:rPr lang="en-IN" dirty="0"/>
              <a:t>Evaluate operational metrics such as show timings, weekday vs. weekend splits, and seat occupancy</a:t>
            </a:r>
          </a:p>
          <a:p>
            <a:pPr lvl="0"/>
            <a:r>
              <a:rPr lang="en-IN" dirty="0"/>
              <a:t>Generate actionable insights and interactive executive dashboards to support strategic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10870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2E4B-BD37-6491-72D9-FAD51B67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F3494-16F9-2B95-574A-B9A801E52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Domain: Multiplex Ticket Sales &amp; Operations</a:t>
            </a:r>
          </a:p>
          <a:p>
            <a:pPr lvl="0"/>
            <a:r>
              <a:rPr lang="en-IN" dirty="0"/>
              <a:t>Period: Annual Performance Cycle</a:t>
            </a:r>
          </a:p>
          <a:p>
            <a:pPr lvl="0"/>
            <a:r>
              <a:rPr lang="en-IN" dirty="0"/>
              <a:t>Dataset Structure (9 Core Tables): </a:t>
            </a:r>
            <a:r>
              <a:rPr lang="en-IN" dirty="0" err="1"/>
              <a:t>Fact_Ticket_Sales</a:t>
            </a:r>
            <a:r>
              <a:rPr lang="en-IN" dirty="0"/>
              <a:t>, </a:t>
            </a:r>
            <a:r>
              <a:rPr lang="en-IN" dirty="0" err="1"/>
              <a:t>Dim_Movie</a:t>
            </a:r>
            <a:r>
              <a:rPr lang="en-IN" dirty="0"/>
              <a:t>, </a:t>
            </a:r>
            <a:r>
              <a:rPr lang="en-IN" dirty="0" err="1"/>
              <a:t>Dim_Show</a:t>
            </a:r>
            <a:r>
              <a:rPr lang="en-IN" dirty="0"/>
              <a:t>, </a:t>
            </a:r>
            <a:r>
              <a:rPr lang="en-IN" dirty="0" err="1"/>
              <a:t>Dim_Date</a:t>
            </a:r>
            <a:r>
              <a:rPr lang="en-IN" dirty="0"/>
              <a:t>, </a:t>
            </a:r>
            <a:r>
              <a:rPr lang="en-IN" dirty="0" err="1"/>
              <a:t>Dim_Theatre</a:t>
            </a:r>
            <a:r>
              <a:rPr lang="en-IN" dirty="0"/>
              <a:t>, </a:t>
            </a:r>
            <a:r>
              <a:rPr lang="en-IN" dirty="0" err="1"/>
              <a:t>Dim_Promotion</a:t>
            </a:r>
            <a:r>
              <a:rPr lang="en-IN" dirty="0"/>
              <a:t>, </a:t>
            </a:r>
            <a:r>
              <a:rPr lang="en-IN" dirty="0" err="1"/>
              <a:t>Dim_Category</a:t>
            </a:r>
            <a:r>
              <a:rPr lang="en-IN" dirty="0"/>
              <a:t>, </a:t>
            </a:r>
            <a:r>
              <a:rPr lang="en-IN" dirty="0" err="1"/>
              <a:t>Dim_Customer</a:t>
            </a:r>
            <a:r>
              <a:rPr lang="en-IN" dirty="0"/>
              <a:t>, </a:t>
            </a:r>
            <a:r>
              <a:rPr lang="en-IN" dirty="0" err="1"/>
              <a:t>Dim_Screen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92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5473-56CD-AE67-68C9-A33335D1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D9BD5-F2B8-6A3C-3D8D-D604A2714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Power BI Desktop</a:t>
            </a:r>
          </a:p>
          <a:p>
            <a:pPr lvl="0"/>
            <a:r>
              <a:rPr lang="en-IN" dirty="0"/>
              <a:t>Advanced DAX Measures &amp; </a:t>
            </a:r>
            <a:r>
              <a:rPr lang="en-IN" dirty="0" err="1"/>
              <a:t>Modeling</a:t>
            </a:r>
            <a:r>
              <a:rPr lang="en-IN" dirty="0"/>
              <a:t> (CALCULATE, SUMX)</a:t>
            </a:r>
          </a:p>
          <a:p>
            <a:pPr lvl="0"/>
            <a:r>
              <a:rPr lang="en-IN" dirty="0"/>
              <a:t>Star Schema Relational Architecture</a:t>
            </a:r>
          </a:p>
          <a:p>
            <a:pPr lvl="0"/>
            <a:r>
              <a:rPr lang="en-IN" dirty="0"/>
              <a:t>Dynamic Slicers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9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9D89-0ECA-E0E7-AF89-59FE7309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 &amp; </a:t>
            </a:r>
            <a:r>
              <a:rPr lang="en-IN" b="1" dirty="0" err="1"/>
              <a:t>Modeling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0CDF6-F9FF-F5D2-930A-E577F320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Inspected relational schema and verified primary/foreign key integrity across dimension and fact tables</a:t>
            </a:r>
          </a:p>
          <a:p>
            <a:pPr lvl="0"/>
            <a:r>
              <a:rPr lang="en-IN" dirty="0"/>
              <a:t>Created custom calculated columns such as </a:t>
            </a:r>
            <a:r>
              <a:rPr lang="en-IN" dirty="0" err="1"/>
              <a:t>Day_Type</a:t>
            </a:r>
            <a:r>
              <a:rPr lang="en-IN" dirty="0"/>
              <a:t> (Weekday / Weekend) within </a:t>
            </a:r>
            <a:r>
              <a:rPr lang="en-IN" dirty="0" err="1"/>
              <a:t>Dim_Date</a:t>
            </a:r>
            <a:endParaRPr lang="en-IN" dirty="0"/>
          </a:p>
          <a:p>
            <a:pPr lvl="0"/>
            <a:r>
              <a:rPr lang="en-IN" dirty="0"/>
              <a:t>Checked data consistency, formatting, and numeric aggregations prior to building the command </a:t>
            </a:r>
            <a:r>
              <a:rPr lang="en-IN" dirty="0" err="1"/>
              <a:t>center</a:t>
            </a:r>
            <a:r>
              <a:rPr lang="en-IN" dirty="0"/>
              <a:t>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296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AD69C-9272-5E86-D0B9-528CA01F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Movie Theatre Revenue &amp; Operations Analytics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92DD5-BCBA-CDC3-298C-38D27F0D4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Key Performance Indicators</a:t>
            </a:r>
            <a:endParaRPr lang="en-IN" dirty="0"/>
          </a:p>
          <a:p>
            <a:pPr lvl="0"/>
            <a:r>
              <a:rPr lang="en-IN" dirty="0"/>
              <a:t>Total Revenue: ₹6.59M</a:t>
            </a:r>
          </a:p>
          <a:p>
            <a:pPr lvl="0"/>
            <a:r>
              <a:rPr lang="en-IN" dirty="0"/>
              <a:t>Total Tickets: 18K</a:t>
            </a:r>
          </a:p>
          <a:p>
            <a:pPr lvl="0"/>
            <a:r>
              <a:rPr lang="en-IN" dirty="0"/>
              <a:t>F&amp;B Revenue: ₹2M</a:t>
            </a:r>
          </a:p>
          <a:p>
            <a:pPr lvl="0"/>
            <a:r>
              <a:rPr lang="en-IN" dirty="0"/>
              <a:t>Average Occupancy: 61.98</a:t>
            </a:r>
          </a:p>
          <a:p>
            <a:pPr lvl="0"/>
            <a:r>
              <a:rPr lang="en-IN" dirty="0"/>
              <a:t>Average Customer Rating: 3.98 / 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09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6E59-DC2A-5A71-71D8-7235AED87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Visual Layout &amp;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EA23F-66EA-48F6-8B30-1C624D104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IN" b="1" dirty="0"/>
              <a:t>Revenue By Theatre:</a:t>
            </a:r>
            <a:r>
              <a:rPr lang="en-IN" dirty="0"/>
              <a:t> Horizontal bar chart comparing earnings across key multiplex locations like Vellore, Salem, and Trichy </a:t>
            </a:r>
          </a:p>
          <a:p>
            <a:pPr lvl="0"/>
            <a:r>
              <a:rPr lang="en-IN" b="1" dirty="0"/>
              <a:t>Total Revenue by Genre:</a:t>
            </a:r>
            <a:r>
              <a:rPr lang="en-IN" dirty="0"/>
              <a:t> </a:t>
            </a:r>
            <a:r>
              <a:rPr lang="en-IN" dirty="0" err="1"/>
              <a:t>Center</a:t>
            </a:r>
            <a:r>
              <a:rPr lang="en-IN" dirty="0"/>
              <a:t> Donut Chart detailing percentage splits and revenue contribution across thriller, action, comedy, and drama categories </a:t>
            </a:r>
          </a:p>
          <a:p>
            <a:pPr lvl="0"/>
            <a:r>
              <a:rPr lang="en-IN" b="1" dirty="0"/>
              <a:t>Show Time vs. Day Type Matrix:</a:t>
            </a:r>
            <a:r>
              <a:rPr lang="en-IN" dirty="0"/>
              <a:t> Custom cross-tabulation table breaking down screening schedules against weekday and weekend revenue distributions </a:t>
            </a:r>
          </a:p>
          <a:p>
            <a:pPr lvl="0"/>
            <a:r>
              <a:rPr lang="en-IN" b="1" dirty="0"/>
              <a:t>Total Revenue by Month:</a:t>
            </a:r>
            <a:r>
              <a:rPr lang="en-IN" dirty="0"/>
              <a:t> Annual trend line tracking revenue fluctuations across the calendar year </a:t>
            </a:r>
          </a:p>
          <a:p>
            <a:pPr lvl="0"/>
            <a:r>
              <a:rPr lang="en-IN" b="1" dirty="0"/>
              <a:t>Total Tickets by </a:t>
            </a:r>
            <a:r>
              <a:rPr lang="en-IN" b="1" dirty="0" err="1"/>
              <a:t>Promotion_Name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 err="1"/>
              <a:t>Center</a:t>
            </a:r>
            <a:r>
              <a:rPr lang="en-IN" dirty="0"/>
              <a:t>-bottom Column chart evaluating ticket volume performance across specific promotional campaigns and discount offers </a:t>
            </a:r>
          </a:p>
          <a:p>
            <a:pPr lvl="0"/>
            <a:r>
              <a:rPr lang="en-IN" b="1" dirty="0"/>
              <a:t>Top Movies by Revenue:</a:t>
            </a:r>
            <a:r>
              <a:rPr lang="en-IN" dirty="0"/>
              <a:t> Horizontal ranking chart displaying top-grossing movie titles </a:t>
            </a:r>
          </a:p>
          <a:p>
            <a:pPr lvl="0"/>
            <a:r>
              <a:rPr lang="en-IN" b="1" dirty="0"/>
              <a:t>Executive Slicers:</a:t>
            </a:r>
            <a:r>
              <a:rPr lang="en-IN" dirty="0"/>
              <a:t> Top-header interactive dropdown filters for Date, Booking Channel, and Theatre Name enabling full page dynamic control 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4C5A57C-085C-0EA3-F2B0-2E39EFA5D29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56" b="-1954"/>
          <a:stretch>
            <a:fillRect/>
          </a:stretch>
        </p:blipFill>
        <p:spPr>
          <a:xfrm>
            <a:off x="5180012" y="1408112"/>
            <a:ext cx="6172200" cy="358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5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06838-0D9A-6693-77E9-CF5ADADC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61ECA-0FD3-64FA-3EC9-9E46D7CD6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i="1" dirty="0" err="1"/>
              <a:t>CineMax</a:t>
            </a:r>
            <a:r>
              <a:rPr lang="en-IN" i="1" dirty="0"/>
              <a:t> Vellore</a:t>
            </a:r>
            <a:r>
              <a:rPr lang="en-IN" dirty="0"/>
              <a:t> and </a:t>
            </a:r>
            <a:r>
              <a:rPr lang="en-IN" i="1" dirty="0"/>
              <a:t>Salem</a:t>
            </a:r>
            <a:r>
              <a:rPr lang="en-IN" dirty="0"/>
              <a:t> recorded some of the highest individual box office revenue contributions </a:t>
            </a:r>
          </a:p>
          <a:p>
            <a:pPr lvl="0"/>
            <a:r>
              <a:rPr lang="en-IN" dirty="0"/>
              <a:t>Action and Thriller genres generated the highest percentage share of total genre revenue </a:t>
            </a:r>
          </a:p>
          <a:p>
            <a:pPr lvl="0"/>
            <a:r>
              <a:rPr lang="en-IN" dirty="0"/>
              <a:t>Specific promotional campaigns (such as Midnight Show Offers, Student Friday, and Festival Celebrations) successfully drive noticeable ticket sales volume spikes </a:t>
            </a:r>
          </a:p>
          <a:p>
            <a:pPr lvl="0"/>
            <a:r>
              <a:rPr lang="en-IN" dirty="0"/>
              <a:t>Morning screening slots capture substantial box office and ticket sales volume, making them a crucial contributor to total earnings alongside evening slots</a:t>
            </a:r>
          </a:p>
          <a:p>
            <a:pPr lvl="0"/>
            <a:r>
              <a:rPr lang="en-IN" dirty="0"/>
              <a:t>Weekday and weekend revenues show distinct patterns across morning and evening screening hours </a:t>
            </a:r>
          </a:p>
          <a:p>
            <a:pPr lvl="0"/>
            <a:r>
              <a:rPr lang="en-IN" dirty="0"/>
              <a:t>Food and beverage sales achieved a strong ₹2M revenue contribution, significantly boosting total location profitability</a:t>
            </a:r>
          </a:p>
        </p:txBody>
      </p:sp>
    </p:spTree>
    <p:extLst>
      <p:ext uri="{BB962C8B-B14F-4D97-AF65-F5344CB8AC3E}">
        <p14:creationId xmlns:p14="http://schemas.microsoft.com/office/powerpoint/2010/main" val="140172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CDB3-891C-CBFE-23AF-D72096B5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91C7C-997B-43F3-BE99-ABF59FF6A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Promotional discount campaigns and offers play an active role in lifting ticket sales volume across non-peak and promotional windows </a:t>
            </a:r>
          </a:p>
          <a:p>
            <a:pPr lvl="0"/>
            <a:r>
              <a:rPr lang="en-IN" dirty="0"/>
              <a:t>Audience demand is distributed across both morning and evening hours, requiring balanced scheduling across all time blocks</a:t>
            </a:r>
          </a:p>
          <a:p>
            <a:pPr lvl="0"/>
            <a:r>
              <a:rPr lang="en-IN" dirty="0"/>
              <a:t>High visitor volume during prime screening slots places additional operational pressure on multiplex resources</a:t>
            </a:r>
          </a:p>
          <a:p>
            <a:pPr lvl="0"/>
            <a:r>
              <a:rPr lang="en-IN" dirty="0"/>
              <a:t>Food and beverage cross-selling acts as a vital revenue pillar that requires continuous monitoring</a:t>
            </a:r>
          </a:p>
          <a:p>
            <a:pPr lvl="0"/>
            <a:r>
              <a:rPr lang="en-IN" dirty="0"/>
              <a:t>Variations in seat occupancy across different show timings point to opportunities for schedule optimization</a:t>
            </a:r>
          </a:p>
        </p:txBody>
      </p:sp>
    </p:spTree>
    <p:extLst>
      <p:ext uri="{BB962C8B-B14F-4D97-AF65-F5344CB8AC3E}">
        <p14:creationId xmlns:p14="http://schemas.microsoft.com/office/powerpoint/2010/main" val="1634253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450C-56C0-6058-D8FB-958ABC69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ADDBE-BCED-0CC2-9680-745C516B4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b="1" dirty="0"/>
              <a:t>1. Leverage High-Impact Promotions:</a:t>
            </a:r>
            <a:r>
              <a:rPr lang="en-IN" dirty="0"/>
              <a:t> Scale successful promotional campaigns (like student or weekend offers) to maintain high ticket volume velocity. </a:t>
            </a:r>
          </a:p>
          <a:p>
            <a:pPr lvl="0"/>
            <a:r>
              <a:rPr lang="en-IN" b="1" dirty="0"/>
              <a:t>2. Maximize Morning &amp; Peak Show Potential:</a:t>
            </a:r>
            <a:r>
              <a:rPr lang="en-IN" dirty="0"/>
              <a:t> Align screen allocations to capitalize on strong morning screening demand while balancing prime evening slots.</a:t>
            </a:r>
          </a:p>
          <a:p>
            <a:pPr lvl="0"/>
            <a:r>
              <a:rPr lang="en-IN" b="1" dirty="0"/>
              <a:t>3. Boost Weekday Utilization:</a:t>
            </a:r>
            <a:r>
              <a:rPr lang="en-IN" dirty="0"/>
              <a:t> Introduce specialized movie-and-snack bundle promotions during lower-traffic windows to increase seat occupancy.</a:t>
            </a:r>
          </a:p>
          <a:p>
            <a:pPr lvl="0"/>
            <a:r>
              <a:rPr lang="en-IN" b="1" dirty="0"/>
              <a:t>4. Enhance F&amp;B Cross-Selling:</a:t>
            </a:r>
            <a:r>
              <a:rPr lang="en-IN" dirty="0"/>
              <a:t> Leverage popular food and beverage combos at the point of sale during high-volume morning and evening rushes to maximize customer spending per transaction.</a:t>
            </a:r>
          </a:p>
          <a:p>
            <a:pPr lvl="0"/>
            <a:r>
              <a:rPr lang="en-IN" b="1" dirty="0"/>
              <a:t>5. Monitor Theatre Performance:</a:t>
            </a:r>
            <a:r>
              <a:rPr lang="en-IN" dirty="0"/>
              <a:t> Continue tracking revenue, ticket volume, and seat occupancy by location regularly to guide staffing and operational decisions.</a:t>
            </a:r>
          </a:p>
        </p:txBody>
      </p:sp>
    </p:spTree>
    <p:extLst>
      <p:ext uri="{BB962C8B-B14F-4D97-AF65-F5344CB8AC3E}">
        <p14:creationId xmlns:p14="http://schemas.microsoft.com/office/powerpoint/2010/main" val="426411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5431-9C6A-4173-3F71-132A7ED7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2F968-9389-14A2-DC90-51D498045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The Power BI analysis provided a comprehensive view of box office activity, F&amp;B revenue, customer patterns, and operational efficiency at </a:t>
            </a:r>
            <a:r>
              <a:rPr lang="en-IN" dirty="0" err="1"/>
              <a:t>CineMax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The executive command </a:t>
            </a:r>
            <a:r>
              <a:rPr lang="en-IN" dirty="0" err="1"/>
              <a:t>center</a:t>
            </a:r>
            <a:r>
              <a:rPr lang="en-IN" dirty="0"/>
              <a:t> dashboard successfully unifies financial reporting and operational metrics into a single interface, empowering leadership to identify areas requiring attention and support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43968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FC7CF-9912-400F-40B7-BB8A412C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C52BE-F402-68DF-CD07-08C74313F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Improved advanced Power BI data </a:t>
            </a:r>
            <a:r>
              <a:rPr lang="en-IN" dirty="0" err="1"/>
              <a:t>modeling</a:t>
            </a:r>
            <a:r>
              <a:rPr lang="en-IN" dirty="0"/>
              <a:t> and star schema relationship management skills</a:t>
            </a:r>
          </a:p>
          <a:p>
            <a:pPr lvl="0"/>
            <a:r>
              <a:rPr lang="en-IN" dirty="0"/>
              <a:t>Practiced building responsive, executive-grade single-page command </a:t>
            </a:r>
            <a:r>
              <a:rPr lang="en-IN" dirty="0" err="1"/>
              <a:t>center</a:t>
            </a:r>
            <a:r>
              <a:rPr lang="en-IN" dirty="0"/>
              <a:t> layouts</a:t>
            </a:r>
          </a:p>
          <a:p>
            <a:pPr lvl="0"/>
            <a:r>
              <a:rPr lang="en-IN" dirty="0"/>
              <a:t>Learned how to convert raw entertainment data and complex relational structures into actionable business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349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8EDD7B-07F2-3D45-6B24-933D5A2DA3E2}"/>
              </a:ext>
            </a:extLst>
          </p:cNvPr>
          <p:cNvSpPr txBox="1"/>
          <p:nvPr/>
        </p:nvSpPr>
        <p:spPr>
          <a:xfrm>
            <a:off x="3054096" y="2142821"/>
            <a:ext cx="7552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           </a:t>
            </a:r>
            <a:r>
              <a:rPr lang="en-IN" sz="4400" b="1" dirty="0"/>
              <a:t>Thank You</a:t>
            </a:r>
          </a:p>
          <a:p>
            <a:r>
              <a:rPr lang="en-IN" sz="4400" dirty="0"/>
              <a:t> 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031539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820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MOVIE THEATRE REVENUE &amp; OPERATIONS ANALYTICS</vt:lpstr>
      <vt:lpstr>Introduction</vt:lpstr>
      <vt:lpstr>Objectives</vt:lpstr>
      <vt:lpstr>Dataset</vt:lpstr>
      <vt:lpstr>Tools Used</vt:lpstr>
      <vt:lpstr>Data Preparation &amp; Modeling</vt:lpstr>
      <vt:lpstr>Movie Theatre Revenue &amp; Operations Analytics Dashboard</vt:lpstr>
      <vt:lpstr>Dashboard Visual Layout &amp; Analysis</vt:lpstr>
      <vt:lpstr>Key Insights</vt:lpstr>
      <vt:lpstr>Business Observations</vt:lpstr>
      <vt:lpstr>Recommendations</vt:lpstr>
      <vt:lpstr>Conclusion</vt:lpstr>
      <vt:lpstr>Key Learnings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ABINESH</dc:creator>
  <cp:lastModifiedBy>BALA ABINESH</cp:lastModifiedBy>
  <cp:revision>2</cp:revision>
  <dcterms:created xsi:type="dcterms:W3CDTF">2026-10-21T13:51:35Z</dcterms:created>
  <dcterms:modified xsi:type="dcterms:W3CDTF">2026-10-22T02:13:36Z</dcterms:modified>
</cp:coreProperties>
</file>